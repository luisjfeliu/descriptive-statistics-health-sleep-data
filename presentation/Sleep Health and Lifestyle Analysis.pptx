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Roboto Mono Light"/>
      <p:regular r:id="rId12"/>
      <p:bold r:id="rId13"/>
      <p:italic r:id="rId14"/>
      <p:boldItalic r:id="rId15"/>
    </p:embeddedFont>
    <p:embeddedFont>
      <p:font typeface="Open Sans Light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font" Target="fonts/RobotoMonoLight-bold.fntdata"/><Relationship Id="rId12" Type="http://schemas.openxmlformats.org/officeDocument/2006/relationships/font" Target="fonts/RobotoMonoLight-regular.fntdata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Light-boldItalic.fntdata"/><Relationship Id="rId14" Type="http://schemas.openxmlformats.org/officeDocument/2006/relationships/font" Target="fonts/RobotoMonoLight-italic.fntdata"/><Relationship Id="rId17" Type="http://schemas.openxmlformats.org/officeDocument/2006/relationships/font" Target="fonts/OpenSansLight-bold.fntdata"/><Relationship Id="rId16" Type="http://schemas.openxmlformats.org/officeDocument/2006/relationships/font" Target="fonts/OpenSansLigh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Light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3dd687b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3dd687b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3dd687b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3dd687b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3dd687b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13dd687b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3dd687b2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13dd687b2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3dd687b2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3dd687b2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09" l="0" r="0" t="341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09" l="0" r="0" t="341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533400" lvl="1" marL="914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533400" lvl="2" marL="1371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533400" lvl="3" marL="1828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533400" lvl="4" marL="22860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533400" lvl="5" marL="2743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533400" lvl="6" marL="3200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533400" lvl="7" marL="3657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533400" lvl="8" marL="4114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Sleep Health and Lifestyle Analysis</a:t>
            </a:r>
            <a:endParaRPr sz="1000"/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1256200" y="5959675"/>
            <a:ext cx="113427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lang="en"/>
              <a:t>Insights from the Sleep Health and Lifestyle Dataset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/>
              <a:t>Data Scientist: Luis Feliu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Results of sleep health and lifestyle analysis</a:t>
            </a:r>
            <a:endParaRPr sz="3000">
              <a:solidFill>
                <a:srgbClr val="2D3D4A"/>
              </a:solidFill>
            </a:endParaRPr>
          </a:p>
          <a:p>
            <a:pPr indent="-7239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Data Description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Physical Activity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Daily Steps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Distribution of Heart Rates</a:t>
            </a:r>
            <a:endParaRPr sz="3000">
              <a:solidFill>
                <a:srgbClr val="2D3D4A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Data Description</a:t>
            </a:r>
            <a:endParaRPr sz="6400"/>
          </a:p>
        </p:txBody>
      </p:sp>
      <p:sp>
        <p:nvSpPr>
          <p:cNvPr id="120" name="Google Shape;120;p15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D3D4A"/>
                </a:solidFill>
              </a:rPr>
              <a:t>The dataset includes the following: gender, age, occupation, sleep duration, quality of sleep, physical activity level, stress level, BMI category, blood pressure, heart rate, daily steps, sleep disorder.</a:t>
            </a:r>
            <a:endParaRPr>
              <a:solidFill>
                <a:srgbClr val="2D3D4A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D3D4A"/>
              </a:solidFill>
            </a:endParaRPr>
          </a:p>
          <a:p>
            <a:pPr indent="-6858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>
                <a:solidFill>
                  <a:srgbClr val="2D3D4A"/>
                </a:solidFill>
              </a:rPr>
              <a:t>Continuous variable: sleep duration​</a:t>
            </a:r>
            <a:endParaRPr>
              <a:solidFill>
                <a:srgbClr val="2D3D4A"/>
              </a:solidFill>
            </a:endParaRPr>
          </a:p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>
                <a:solidFill>
                  <a:srgbClr val="2D3D4A"/>
                </a:solidFill>
              </a:rPr>
              <a:t>Integer variable: daily steps​, age, heart rate, physical activity level</a:t>
            </a:r>
            <a:endParaRPr>
              <a:solidFill>
                <a:srgbClr val="2D3D4A"/>
              </a:solidFill>
            </a:endParaRPr>
          </a:p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>
                <a:solidFill>
                  <a:srgbClr val="2D3D4A"/>
                </a:solidFill>
              </a:rPr>
              <a:t>Ordinal categorical variable</a:t>
            </a:r>
            <a:endParaRPr>
              <a:solidFill>
                <a:srgbClr val="2D3D4A"/>
              </a:solidFill>
            </a:endParaRPr>
          </a:p>
          <a:p>
            <a:pPr indent="-647700" lvl="1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">
                <a:solidFill>
                  <a:srgbClr val="2D3D4A"/>
                </a:solidFill>
              </a:rPr>
              <a:t>Quality of sleep (4 to 9)​</a:t>
            </a:r>
            <a:endParaRPr>
              <a:solidFill>
                <a:srgbClr val="2D3D4A"/>
              </a:solidFill>
            </a:endParaRPr>
          </a:p>
          <a:p>
            <a:pPr indent="-647700" lvl="1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○"/>
            </a:pPr>
            <a:r>
              <a:rPr lang="en">
                <a:solidFill>
                  <a:srgbClr val="2D3D4A"/>
                </a:solidFill>
              </a:rPr>
              <a:t>Stress level (3 to 8)</a:t>
            </a:r>
            <a:endParaRPr>
              <a:solidFill>
                <a:srgbClr val="2D3D4A"/>
              </a:solidFill>
            </a:endParaRPr>
          </a:p>
          <a:p>
            <a:pPr indent="-647700" lvl="1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000"/>
              <a:buChar char="○"/>
            </a:pPr>
            <a:r>
              <a:rPr lang="en">
                <a:solidFill>
                  <a:srgbClr val="2D3D4A"/>
                </a:solidFill>
              </a:rPr>
              <a:t>BMI category (normal, overweight, obese)</a:t>
            </a:r>
            <a:endParaRPr>
              <a:solidFill>
                <a:srgbClr val="2D3D4A"/>
              </a:solidFill>
            </a:endParaRPr>
          </a:p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>
                <a:solidFill>
                  <a:srgbClr val="2D3D4A"/>
                </a:solidFill>
              </a:rPr>
              <a:t>Nominal categorical variable: gender, occupation, sleep disorder</a:t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Physical Activity (minutes/day)</a:t>
            </a:r>
            <a:endParaRPr sz="6400"/>
          </a:p>
        </p:txBody>
      </p:sp>
      <p:sp>
        <p:nvSpPr>
          <p:cNvPr id="126" name="Google Shape;126;p16"/>
          <p:cNvSpPr txBox="1"/>
          <p:nvPr/>
        </p:nvSpPr>
        <p:spPr>
          <a:xfrm>
            <a:off x="685800" y="2132675"/>
            <a:ext cx="72894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SzPts val="3400"/>
              <a:buFont typeface="Open Sans"/>
              <a:buChar char="●"/>
            </a:pPr>
            <a:r>
              <a:rPr lang="en" sz="3400">
                <a:latin typeface="Open Sans"/>
                <a:ea typeface="Open Sans"/>
                <a:cs typeface="Open Sans"/>
                <a:sym typeface="Open Sans"/>
              </a:rPr>
              <a:t>Mean: 59.2</a:t>
            </a:r>
            <a:endParaRPr sz="3400"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SzPts val="3400"/>
              <a:buFont typeface="Open Sans"/>
              <a:buChar char="●"/>
            </a:pPr>
            <a:r>
              <a:rPr lang="en" sz="3400">
                <a:latin typeface="Open Sans"/>
                <a:ea typeface="Open Sans"/>
                <a:cs typeface="Open Sans"/>
                <a:sym typeface="Open Sans"/>
              </a:rPr>
              <a:t>Median: 60</a:t>
            </a:r>
            <a:endParaRPr sz="3400"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SzPts val="3400"/>
              <a:buFont typeface="Open Sans"/>
              <a:buChar char="●"/>
            </a:pPr>
            <a:r>
              <a:rPr lang="en" sz="3400">
                <a:latin typeface="Open Sans"/>
                <a:ea typeface="Open Sans"/>
                <a:cs typeface="Open Sans"/>
                <a:sym typeface="Open Sans"/>
              </a:rPr>
              <a:t>Mode: 60</a:t>
            </a:r>
            <a:endParaRPr sz="3400"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SzPts val="3400"/>
              <a:buFont typeface="Open Sans"/>
              <a:buChar char="●"/>
            </a:pPr>
            <a:r>
              <a:rPr lang="en" sz="3400">
                <a:latin typeface="Open Sans"/>
                <a:ea typeface="Open Sans"/>
                <a:cs typeface="Open Sans"/>
                <a:sym typeface="Open Sans"/>
              </a:rPr>
              <a:t>Skewness</a:t>
            </a:r>
            <a:endParaRPr sz="3400"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914400" rtl="0" algn="l">
              <a:spcBef>
                <a:spcPts val="0"/>
              </a:spcBef>
              <a:spcAft>
                <a:spcPts val="0"/>
              </a:spcAft>
              <a:buSzPts val="3400"/>
              <a:buFont typeface="Open Sans"/>
              <a:buChar char="●"/>
            </a:pPr>
            <a:r>
              <a:rPr lang="en" sz="3400">
                <a:latin typeface="Open Sans"/>
                <a:ea typeface="Open Sans"/>
                <a:cs typeface="Open Sans"/>
                <a:sym typeface="Open Sans"/>
              </a:rPr>
              <a:t>negative/left skew: mean (59.2) is slightly less than the median (60)</a:t>
            </a:r>
            <a:endParaRPr sz="3400">
              <a:latin typeface="Open Sans"/>
              <a:ea typeface="Open Sans"/>
              <a:cs typeface="Open Sans"/>
              <a:sym typeface="Open Sans"/>
            </a:endParaRPr>
          </a:p>
          <a:p>
            <a:pPr indent="-444500" lvl="0" marL="914400" rtl="0" algn="l">
              <a:spcBef>
                <a:spcPts val="0"/>
              </a:spcBef>
              <a:spcAft>
                <a:spcPts val="0"/>
              </a:spcAft>
              <a:buSzPts val="3400"/>
              <a:buFont typeface="Open Sans"/>
              <a:buChar char="●"/>
            </a:pPr>
            <a:r>
              <a:rPr lang="en" sz="3400">
                <a:latin typeface="Open Sans"/>
                <a:ea typeface="Open Sans"/>
                <a:cs typeface="Open Sans"/>
                <a:sym typeface="Open Sans"/>
              </a:rPr>
              <a:t>close to symmetric: </a:t>
            </a:r>
            <a:r>
              <a:rPr lang="en" sz="3400">
                <a:latin typeface="Open Sans"/>
                <a:ea typeface="Open Sans"/>
                <a:cs typeface="Open Sans"/>
                <a:sym typeface="Open Sans"/>
              </a:rPr>
              <a:t>mean and median</a:t>
            </a:r>
            <a:r>
              <a:rPr lang="en" sz="3400">
                <a:latin typeface="Open Sans"/>
                <a:ea typeface="Open Sans"/>
                <a:cs typeface="Open Sans"/>
                <a:sym typeface="Open Sans"/>
              </a:rPr>
              <a:t> are close (less than a minute difference)</a:t>
            </a:r>
            <a:endParaRPr sz="3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7" name="Google Shape;12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8604" y="2132675"/>
            <a:ext cx="9672018" cy="632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Daily Steps</a:t>
            </a:r>
            <a:endParaRPr sz="6400"/>
          </a:p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>
            <a:off x="685850" y="1828800"/>
            <a:ext cx="5586600" cy="331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" sz="3000">
                <a:solidFill>
                  <a:srgbClr val="000000"/>
                </a:solidFill>
              </a:rPr>
              <a:t>Mean: 6,816.8</a:t>
            </a:r>
            <a:endParaRPr sz="3000">
              <a:solidFill>
                <a:srgbClr val="00000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" sz="3000">
                <a:solidFill>
                  <a:srgbClr val="000000"/>
                </a:solidFill>
              </a:rPr>
              <a:t>Standard Deviation: 1,617.9</a:t>
            </a:r>
            <a:endParaRPr sz="3000">
              <a:solidFill>
                <a:srgbClr val="00000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" sz="3000">
                <a:solidFill>
                  <a:srgbClr val="000000"/>
                </a:solidFill>
              </a:rPr>
              <a:t>Maximum: 10,000​</a:t>
            </a:r>
            <a:endParaRPr sz="3000">
              <a:solidFill>
                <a:srgbClr val="00000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" sz="3000">
                <a:solidFill>
                  <a:srgbClr val="000000"/>
                </a:solidFill>
              </a:rPr>
              <a:t>Minimum: 3,000</a:t>
            </a:r>
            <a:endParaRPr sz="3000">
              <a:solidFill>
                <a:srgbClr val="00000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" sz="3000">
                <a:solidFill>
                  <a:srgbClr val="000000"/>
                </a:solidFill>
              </a:rPr>
              <a:t>Range: 7,000</a:t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descr="daily_steps_distribution.png" id="134" name="Google Shape;13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7219" y="1816975"/>
            <a:ext cx="12042053" cy="662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Distribution of Heart Rates</a:t>
            </a:r>
            <a:endParaRPr sz="6400"/>
          </a:p>
        </p:txBody>
      </p:sp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12849800" y="1850950"/>
            <a:ext cx="5036100" cy="68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" sz="3000">
                <a:solidFill>
                  <a:srgbClr val="000000"/>
                </a:solidFill>
              </a:rPr>
              <a:t>Right-skewed distribution</a:t>
            </a:r>
            <a:endParaRPr sz="3000">
              <a:solidFill>
                <a:srgbClr val="000000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" sz="3000">
                <a:solidFill>
                  <a:srgbClr val="000000"/>
                </a:solidFill>
              </a:rPr>
              <a:t>15 outliers on the higher end (above 78 bpm).</a:t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descr="heart_rate_distribution.png" id="141" name="Google Shape;14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928437"/>
            <a:ext cx="11680099" cy="643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7651529" y="2304604"/>
            <a:ext cx="1744800" cy="17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75" lIns="53175" spcFirstLastPara="1" rIns="53175" wrap="square" tIns="53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9">
                <a:solidFill>
                  <a:srgbClr val="3391FF"/>
                </a:solidFill>
              </a:rPr>
              <a:t> </a:t>
            </a:r>
            <a:endParaRPr sz="814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